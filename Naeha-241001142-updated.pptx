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14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de008914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5de008914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de008914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5de008914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de008914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5de008914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de008914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5de008914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de008914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5de008914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5de008914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5de008914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5f3f5f5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5f3f5f5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de008914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5de008914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5de008914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5de008914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5de008914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5de008914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5de008914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5de008914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5de008914_4_0)">
  <p:cSld name="Generated (g3f5de008914_4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t="7023" b="7023"/>
          <a:stretch/>
        </p:blipFill>
        <p:spPr>
          <a:xfrm>
            <a:off x="722950" y="297350"/>
            <a:ext cx="7620000" cy="110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685800" y="2393947"/>
            <a:ext cx="7772400" cy="109500"/>
            <a:chOff x="0" y="0"/>
            <a:chExt cx="7772400" cy="1095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48033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0" y="0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14"/>
          <p:cNvSpPr txBox="1"/>
          <p:nvPr/>
        </p:nvSpPr>
        <p:spPr>
          <a:xfrm>
            <a:off x="152400" y="1524000"/>
            <a:ext cx="88392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" sz="2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2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" sz="2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2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" sz="2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2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Department of Information Technology</a:t>
            </a:r>
            <a:endParaRPr sz="2400" b="1">
              <a:solidFill>
                <a:srgbClr val="CC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52400" y="3424238"/>
            <a:ext cx="8839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en" sz="24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IT23723 – INTERNSHIP II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4953000" y="5238750"/>
            <a:ext cx="3505200" cy="952500"/>
            <a:chOff x="0" y="0"/>
            <a:chExt cx="3505200" cy="9525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35052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0" y="0"/>
              <a:ext cx="3505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47625" rIns="95250" bIns="476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NAEHA S</a:t>
              </a:r>
              <a:endParaRPr sz="2200" b="1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Reg. No: 241001142</a:t>
              </a:r>
              <a:endParaRPr sz="16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7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105" name="Google Shape;105;p17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7"/>
          <p:cNvSpPr txBox="1"/>
          <p:nvPr/>
        </p:nvSpPr>
        <p:spPr>
          <a:xfrm>
            <a:off x="571500" y="47625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About The Company</a:t>
            </a:r>
            <a:endParaRPr sz="28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08" name="Google Shape;108;p17"/>
          <p:cNvGrpSpPr/>
          <p:nvPr/>
        </p:nvGrpSpPr>
        <p:grpSpPr>
          <a:xfrm>
            <a:off x="1143000" y="1809750"/>
            <a:ext cx="3048000" cy="4000500"/>
            <a:chOff x="1143000" y="1809750"/>
            <a:chExt cx="3048000" cy="4000500"/>
          </a:xfrm>
        </p:grpSpPr>
        <p:sp>
          <p:nvSpPr>
            <p:cNvPr id="109" name="Google Shape;109;p17"/>
            <p:cNvSpPr/>
            <p:nvPr/>
          </p:nvSpPr>
          <p:spPr>
            <a:xfrm>
              <a:off x="1143000" y="1809750"/>
              <a:ext cx="3048000" cy="381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1143000" y="2000250"/>
              <a:ext cx="3048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Merit Software Services Pvt. Ltd.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About The Organization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Merit Software Services Pvt. Ltd. is a Chennai-based IT services company headquartered in Ambattur Industrial Estate, delivering data, analytics, and software solutions to enterprise clients. This internship was completed under its Data &amp; Analytics division.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4953000" y="1809750"/>
            <a:ext cx="3048000" cy="4000500"/>
            <a:chOff x="4953000" y="1809750"/>
            <a:chExt cx="3048000" cy="4000500"/>
          </a:xfrm>
        </p:grpSpPr>
        <p:sp>
          <p:nvSpPr>
            <p:cNvPr id="112" name="Google Shape;112;p17"/>
            <p:cNvSpPr/>
            <p:nvPr/>
          </p:nvSpPr>
          <p:spPr>
            <a:xfrm>
              <a:off x="4953000" y="1809750"/>
              <a:ext cx="3048000" cy="381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4953000" y="2000250"/>
              <a:ext cx="3048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Internship Engagement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Placement Details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Position: Data Analyst Intern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Department: Data &amp; Analytics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Duration: 4 weeks (17 Jun – 14 Jul 2026)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Work Mode: Hybrid (online + Chennai office)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Reporting To: Analytics Manager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cxnSp>
        <p:nvCxnSpPr>
          <p:cNvPr id="114" name="Google Shape;114;p17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6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74" name="Google Shape;74;p16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6"/>
          <p:cNvSpPr txBox="1"/>
          <p:nvPr/>
        </p:nvSpPr>
        <p:spPr>
          <a:xfrm>
            <a:off x="571500" y="85725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9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Inefficiencies in Enterprise Procurement</a:t>
            </a:r>
            <a:endParaRPr sz="259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77" name="Google Shape;77;p16"/>
          <p:cNvGrpSpPr/>
          <p:nvPr/>
        </p:nvGrpSpPr>
        <p:grpSpPr>
          <a:xfrm>
            <a:off x="571500" y="1809750"/>
            <a:ext cx="3905400" cy="2857500"/>
            <a:chOff x="0" y="0"/>
            <a:chExt cx="3905400" cy="2857500"/>
          </a:xfrm>
        </p:grpSpPr>
        <p:sp>
          <p:nvSpPr>
            <p:cNvPr id="78" name="Google Shape;78;p16"/>
            <p:cNvSpPr/>
            <p:nvPr/>
          </p:nvSpPr>
          <p:spPr>
            <a:xfrm>
              <a:off x="0" y="0"/>
              <a:ext cx="3905400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190500" y="190500"/>
              <a:ext cx="571500" cy="381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6"/>
            <p:cNvSpPr txBox="1"/>
            <p:nvPr/>
          </p:nvSpPr>
          <p:spPr>
            <a:xfrm>
              <a:off x="190500" y="333375"/>
              <a:ext cx="3524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Traditional Procurement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Traditional enterprise procurement workflows suffer from structural gaps that limit efficiency and scalability: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</a:t>
              </a: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Manual Processes: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Heavy reliance on offline spreadsheets, manual data entry, and slow approvals.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</a:t>
              </a: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Siloed Data: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Disjointed departmental records make consolidated spend visibility impossible.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</a:t>
              </a: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Lacks Insights: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Inability to proactively predict upcoming supplier risks or budget overruns.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81" name="Google Shape;81;p16"/>
          <p:cNvGrpSpPr/>
          <p:nvPr/>
        </p:nvGrpSpPr>
        <p:grpSpPr>
          <a:xfrm>
            <a:off x="4667250" y="1809750"/>
            <a:ext cx="3905400" cy="2857500"/>
            <a:chOff x="0" y="0"/>
            <a:chExt cx="3905400" cy="2857500"/>
          </a:xfrm>
        </p:grpSpPr>
        <p:sp>
          <p:nvSpPr>
            <p:cNvPr id="82" name="Google Shape;82;p16"/>
            <p:cNvSpPr/>
            <p:nvPr/>
          </p:nvSpPr>
          <p:spPr>
            <a:xfrm>
              <a:off x="0" y="0"/>
              <a:ext cx="3905400" cy="2857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190500" y="190500"/>
              <a:ext cx="571500" cy="381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190500" y="333375"/>
              <a:ext cx="3524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ProcureSense AI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ProcureSense AI introduces an automated enterprise engine that unifies SQL analytics, ML, and interactive BI: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</a:t>
              </a: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Supplier Risk: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Monitors vendor metrics and maps potential disruption points before they occur.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</a:t>
              </a: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Spend Concentration: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Analyzes transaction density to consolidate buying power.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</a:t>
              </a: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Delivery Delays: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Employs predictive analytics to forecast shipment issues early.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571500" y="4905375"/>
            <a:ext cx="2190900" cy="857400"/>
            <a:chOff x="0" y="0"/>
            <a:chExt cx="2190900" cy="857400"/>
          </a:xfrm>
        </p:grpSpPr>
        <p:sp>
          <p:nvSpPr>
            <p:cNvPr id="86" name="Google Shape;86;p16"/>
            <p:cNvSpPr/>
            <p:nvPr/>
          </p:nvSpPr>
          <p:spPr>
            <a:xfrm>
              <a:off x="0" y="0"/>
              <a:ext cx="2190900" cy="8574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57150" y="95250"/>
              <a:ext cx="38100" cy="666900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190500" y="95250"/>
              <a:ext cx="1809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Raw Data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Siloed ERPs &amp; Spreadsheets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89" name="Google Shape;89;p16"/>
          <p:cNvSpPr/>
          <p:nvPr/>
        </p:nvSpPr>
        <p:spPr>
          <a:xfrm>
            <a:off x="2971800" y="5238750"/>
            <a:ext cx="247800" cy="190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20000" y="60000"/>
                </a:lnTo>
                <a:moveTo>
                  <a:pt x="73846" y="0"/>
                </a:moveTo>
                <a:lnTo>
                  <a:pt x="120000" y="60000"/>
                </a:lnTo>
                <a:lnTo>
                  <a:pt x="73846" y="120000"/>
                </a:lnTo>
              </a:path>
            </a:pathLst>
          </a:custGeom>
          <a:solidFill>
            <a:srgbClr val="000000">
              <a:alpha val="0"/>
            </a:srgbClr>
          </a:solidFill>
          <a:ln w="23825" cap="rnd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6"/>
          <p:cNvGrpSpPr/>
          <p:nvPr/>
        </p:nvGrpSpPr>
        <p:grpSpPr>
          <a:xfrm>
            <a:off x="3476625" y="4905375"/>
            <a:ext cx="2190900" cy="857400"/>
            <a:chOff x="0" y="0"/>
            <a:chExt cx="2190900" cy="857400"/>
          </a:xfrm>
        </p:grpSpPr>
        <p:sp>
          <p:nvSpPr>
            <p:cNvPr id="91" name="Google Shape;91;p16"/>
            <p:cNvSpPr/>
            <p:nvPr/>
          </p:nvSpPr>
          <p:spPr>
            <a:xfrm>
              <a:off x="0" y="0"/>
              <a:ext cx="2190900" cy="8574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57150" y="95250"/>
              <a:ext cx="38100" cy="666900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190500" y="95250"/>
              <a:ext cx="1809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Analytics Engine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Unified SQL, ML &amp; BI Layer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94" name="Google Shape;94;p16"/>
          <p:cNvSpPr/>
          <p:nvPr/>
        </p:nvSpPr>
        <p:spPr>
          <a:xfrm>
            <a:off x="5876925" y="5238750"/>
            <a:ext cx="247800" cy="190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20000" y="60000"/>
                </a:lnTo>
                <a:moveTo>
                  <a:pt x="73846" y="0"/>
                </a:moveTo>
                <a:lnTo>
                  <a:pt x="120000" y="60000"/>
                </a:lnTo>
                <a:lnTo>
                  <a:pt x="73846" y="120000"/>
                </a:lnTo>
              </a:path>
            </a:pathLst>
          </a:custGeom>
          <a:solidFill>
            <a:srgbClr val="000000">
              <a:alpha val="0"/>
            </a:srgbClr>
          </a:solidFill>
          <a:ln w="23825" cap="rnd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" name="Google Shape;95;p16"/>
          <p:cNvGrpSpPr/>
          <p:nvPr/>
        </p:nvGrpSpPr>
        <p:grpSpPr>
          <a:xfrm>
            <a:off x="6381750" y="4905375"/>
            <a:ext cx="2190900" cy="857400"/>
            <a:chOff x="0" y="0"/>
            <a:chExt cx="2190900" cy="8574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2190900" cy="8574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57150" y="95250"/>
              <a:ext cx="38100" cy="666900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190500" y="95250"/>
              <a:ext cx="18096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Decision Support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Interactive BI &amp; Predictive Insights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cxnSp>
        <p:nvCxnSpPr>
          <p:cNvPr id="99" name="Google Shape;99;p1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7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105" name="Google Shape;105;p17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7"/>
          <p:cNvSpPr txBox="1"/>
          <p:nvPr/>
        </p:nvSpPr>
        <p:spPr>
          <a:xfrm>
            <a:off x="571500" y="47625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Risk Prediction &amp; Composite Score</a:t>
            </a:r>
            <a:endParaRPr sz="28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08" name="Google Shape;108;p17"/>
          <p:cNvGrpSpPr/>
          <p:nvPr/>
        </p:nvGrpSpPr>
        <p:grpSpPr>
          <a:xfrm>
            <a:off x="1143000" y="1809750"/>
            <a:ext cx="3048000" cy="4000500"/>
            <a:chOff x="1143000" y="1809750"/>
            <a:chExt cx="3048000" cy="4000500"/>
          </a:xfrm>
        </p:grpSpPr>
        <p:sp>
          <p:nvSpPr>
            <p:cNvPr id="109" name="Google Shape;109;p17"/>
            <p:cNvSpPr/>
            <p:nvPr/>
          </p:nvSpPr>
          <p:spPr>
            <a:xfrm>
              <a:off x="1143000" y="1809750"/>
              <a:ext cx="3048000" cy="381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1143000" y="2000250"/>
              <a:ext cx="3048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Supplier Risk Visibility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Operational Problem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Lack of real-time visibility into supplier performance and delivery risks.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4953000" y="1809750"/>
            <a:ext cx="3048000" cy="4000500"/>
            <a:chOff x="4953000" y="1809750"/>
            <a:chExt cx="3048000" cy="4000500"/>
          </a:xfrm>
        </p:grpSpPr>
        <p:sp>
          <p:nvSpPr>
            <p:cNvPr id="112" name="Google Shape;112;p17"/>
            <p:cNvSpPr/>
            <p:nvPr/>
          </p:nvSpPr>
          <p:spPr>
            <a:xfrm>
              <a:off x="4953000" y="1809750"/>
              <a:ext cx="3048000" cy="381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4953000" y="2000250"/>
              <a:ext cx="30480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Project Objectives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Key Deliverables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Normalize database (28,765 records)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Build 10 operational SQL queries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Train 6 ML models for late delivery prediction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Develop 0–100 Procurement Health Score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Deploy 5-tab Streamlit dashboard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cxnSp>
        <p:nvCxnSpPr>
          <p:cNvPr id="114" name="Google Shape;114;p17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8"/>
          <p:cNvGrpSpPr/>
          <p:nvPr/>
        </p:nvGrpSpPr>
        <p:grpSpPr>
          <a:xfrm>
            <a:off x="571500" y="1905000"/>
            <a:ext cx="8001000" cy="3619500"/>
            <a:chOff x="571500" y="1905000"/>
            <a:chExt cx="8001000" cy="3619500"/>
          </a:xfrm>
        </p:grpSpPr>
        <p:grpSp>
          <p:nvGrpSpPr>
            <p:cNvPr id="120" name="Google Shape;120;p18"/>
            <p:cNvGrpSpPr/>
            <p:nvPr/>
          </p:nvGrpSpPr>
          <p:grpSpPr>
            <a:xfrm>
              <a:off x="571500" y="1905000"/>
              <a:ext cx="3619500" cy="3619500"/>
              <a:chOff x="0" y="0"/>
              <a:chExt cx="3619500" cy="3619500"/>
            </a:xfrm>
          </p:grpSpPr>
          <p:sp>
            <p:nvSpPr>
              <p:cNvPr id="121" name="Google Shape;121;p18"/>
              <p:cNvSpPr/>
              <p:nvPr/>
            </p:nvSpPr>
            <p:spPr>
              <a:xfrm>
                <a:off x="0" y="0"/>
                <a:ext cx="3619500" cy="3619500"/>
              </a:xfrm>
              <a:prstGeom prst="roundRect">
                <a:avLst>
                  <a:gd name="adj" fmla="val 3157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2" name="Google Shape;122;p1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00225" y="190500"/>
                <a:ext cx="19200" cy="30099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23" name="Google Shape;123;p18"/>
              <p:cNvGrpSpPr/>
              <p:nvPr/>
            </p:nvGrpSpPr>
            <p:grpSpPr>
              <a:xfrm>
                <a:off x="190500" y="190500"/>
                <a:ext cx="3238500" cy="647700"/>
                <a:chOff x="0" y="0"/>
                <a:chExt cx="3238500" cy="647700"/>
              </a:xfrm>
            </p:grpSpPr>
            <p:sp>
              <p:nvSpPr>
                <p:cNvPr id="124" name="Google Shape;124;p18"/>
                <p:cNvSpPr/>
                <p:nvPr/>
              </p:nvSpPr>
              <p:spPr>
                <a:xfrm>
                  <a:off x="0" y="0"/>
                  <a:ext cx="3238500" cy="647700"/>
                </a:xfrm>
                <a:prstGeom prst="roundRect">
                  <a:avLst>
                    <a:gd name="adj" fmla="val 11764"/>
                  </a:avLst>
                </a:prstGeom>
                <a:solidFill>
                  <a:srgbClr val="FFFFFF"/>
                </a:solidFill>
                <a:ln w="143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18"/>
                <p:cNvSpPr/>
                <p:nvPr/>
              </p:nvSpPr>
              <p:spPr>
                <a:xfrm>
                  <a:off x="0" y="0"/>
                  <a:ext cx="57300" cy="6477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18"/>
                <p:cNvSpPr txBox="1"/>
                <p:nvPr/>
              </p:nvSpPr>
              <p:spPr>
                <a:xfrm>
                  <a:off x="190500" y="0"/>
                  <a:ext cx="2857500" cy="647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CC00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1. Presentation Layer</a:t>
                  </a:r>
                  <a:endParaRPr sz="11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marL="0" lvl="0" indent="0" algn="l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" sz="1000" b="0">
                      <a:solidFill>
                        <a:srgbClr val="555555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Streamlit BI Studio (5 tabs)</a:t>
                  </a:r>
                  <a:endParaRPr sz="1000" b="0">
                    <a:solidFill>
                      <a:srgbClr val="555555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127" name="Google Shape;127;p18"/>
              <p:cNvGrpSpPr/>
              <p:nvPr/>
            </p:nvGrpSpPr>
            <p:grpSpPr>
              <a:xfrm>
                <a:off x="190500" y="1000125"/>
                <a:ext cx="3238500" cy="647700"/>
                <a:chOff x="0" y="0"/>
                <a:chExt cx="3238500" cy="647700"/>
              </a:xfrm>
            </p:grpSpPr>
            <p:sp>
              <p:nvSpPr>
                <p:cNvPr id="128" name="Google Shape;128;p18"/>
                <p:cNvSpPr/>
                <p:nvPr/>
              </p:nvSpPr>
              <p:spPr>
                <a:xfrm>
                  <a:off x="0" y="0"/>
                  <a:ext cx="3238500" cy="647700"/>
                </a:xfrm>
                <a:prstGeom prst="roundRect">
                  <a:avLst>
                    <a:gd name="adj" fmla="val 11764"/>
                  </a:avLst>
                </a:prstGeom>
                <a:solidFill>
                  <a:srgbClr val="FFFFFF"/>
                </a:solidFill>
                <a:ln w="143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18"/>
                <p:cNvSpPr/>
                <p:nvPr/>
              </p:nvSpPr>
              <p:spPr>
                <a:xfrm>
                  <a:off x="0" y="0"/>
                  <a:ext cx="57300" cy="6477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18"/>
                <p:cNvSpPr txBox="1"/>
                <p:nvPr/>
              </p:nvSpPr>
              <p:spPr>
                <a:xfrm>
                  <a:off x="190500" y="0"/>
                  <a:ext cx="2857500" cy="647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CC00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2. Analytics &amp; ML Layer</a:t>
                  </a:r>
                  <a:endParaRPr sz="11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marL="0" lvl="0" indent="0" algn="l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" sz="1000" b="0">
                      <a:solidFill>
                        <a:srgbClr val="555555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KPI Engine, 6-Model Pipeline, SHAP</a:t>
                  </a:r>
                  <a:endParaRPr sz="1000" b="0">
                    <a:solidFill>
                      <a:srgbClr val="555555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131" name="Google Shape;131;p18"/>
              <p:cNvGrpSpPr/>
              <p:nvPr/>
            </p:nvGrpSpPr>
            <p:grpSpPr>
              <a:xfrm>
                <a:off x="190500" y="1809750"/>
                <a:ext cx="3238500" cy="647700"/>
                <a:chOff x="0" y="0"/>
                <a:chExt cx="3238500" cy="647700"/>
              </a:xfrm>
            </p:grpSpPr>
            <p:sp>
              <p:nvSpPr>
                <p:cNvPr id="132" name="Google Shape;132;p18"/>
                <p:cNvSpPr/>
                <p:nvPr/>
              </p:nvSpPr>
              <p:spPr>
                <a:xfrm>
                  <a:off x="0" y="0"/>
                  <a:ext cx="3238500" cy="647700"/>
                </a:xfrm>
                <a:prstGeom prst="roundRect">
                  <a:avLst>
                    <a:gd name="adj" fmla="val 11764"/>
                  </a:avLst>
                </a:prstGeom>
                <a:solidFill>
                  <a:srgbClr val="FFFFFF"/>
                </a:solidFill>
                <a:ln w="143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18"/>
                <p:cNvSpPr/>
                <p:nvPr/>
              </p:nvSpPr>
              <p:spPr>
                <a:xfrm>
                  <a:off x="0" y="0"/>
                  <a:ext cx="57300" cy="6477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18"/>
                <p:cNvSpPr txBox="1"/>
                <p:nvPr/>
              </p:nvSpPr>
              <p:spPr>
                <a:xfrm>
                  <a:off x="190500" y="0"/>
                  <a:ext cx="2857500" cy="647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CC00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3. Query Layer</a:t>
                  </a:r>
                  <a:endParaRPr sz="11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marL="0" lvl="0" indent="0" algn="l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" sz="1000" b="0">
                      <a:solidFill>
                        <a:srgbClr val="555555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10 SQL Portfolio Queries</a:t>
                  </a:r>
                  <a:endParaRPr sz="1000" b="0">
                    <a:solidFill>
                      <a:srgbClr val="555555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135" name="Google Shape;135;p18"/>
              <p:cNvGrpSpPr/>
              <p:nvPr/>
            </p:nvGrpSpPr>
            <p:grpSpPr>
              <a:xfrm>
                <a:off x="190500" y="2619375"/>
                <a:ext cx="3238500" cy="647700"/>
                <a:chOff x="0" y="0"/>
                <a:chExt cx="3238500" cy="647700"/>
              </a:xfrm>
            </p:grpSpPr>
            <p:sp>
              <p:nvSpPr>
                <p:cNvPr id="136" name="Google Shape;136;p18"/>
                <p:cNvSpPr/>
                <p:nvPr/>
              </p:nvSpPr>
              <p:spPr>
                <a:xfrm>
                  <a:off x="0" y="0"/>
                  <a:ext cx="3238500" cy="647700"/>
                </a:xfrm>
                <a:prstGeom prst="roundRect">
                  <a:avLst>
                    <a:gd name="adj" fmla="val 11764"/>
                  </a:avLst>
                </a:prstGeom>
                <a:solidFill>
                  <a:srgbClr val="FFFFFF"/>
                </a:solidFill>
                <a:ln w="143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18"/>
                <p:cNvSpPr/>
                <p:nvPr/>
              </p:nvSpPr>
              <p:spPr>
                <a:xfrm>
                  <a:off x="0" y="0"/>
                  <a:ext cx="57300" cy="6477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18"/>
                <p:cNvSpPr txBox="1"/>
                <p:nvPr/>
              </p:nvSpPr>
              <p:spPr>
                <a:xfrm>
                  <a:off x="190500" y="0"/>
                  <a:ext cx="2857500" cy="647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CC00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4. Data Layer</a:t>
                  </a:r>
                  <a:endParaRPr sz="11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marL="0" lvl="0" indent="0" algn="l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" sz="1000" b="0">
                      <a:solidFill>
                        <a:srgbClr val="555555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SQLite DB (5 tables, 28,765 records)</a:t>
                  </a:r>
                  <a:endParaRPr sz="1000" b="0">
                    <a:solidFill>
                      <a:srgbClr val="555555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</p:grpSp>
        <p:grpSp>
          <p:nvGrpSpPr>
            <p:cNvPr id="139" name="Google Shape;139;p18"/>
            <p:cNvGrpSpPr/>
            <p:nvPr/>
          </p:nvGrpSpPr>
          <p:grpSpPr>
            <a:xfrm>
              <a:off x="4572000" y="1905000"/>
              <a:ext cx="4000500" cy="3619500"/>
              <a:chOff x="0" y="0"/>
              <a:chExt cx="4000500" cy="3619500"/>
            </a:xfrm>
          </p:grpSpPr>
          <p:sp>
            <p:nvSpPr>
              <p:cNvPr id="140" name="Google Shape;140;p18"/>
              <p:cNvSpPr/>
              <p:nvPr/>
            </p:nvSpPr>
            <p:spPr>
              <a:xfrm>
                <a:off x="0" y="0"/>
                <a:ext cx="4000500" cy="3619500"/>
              </a:xfrm>
              <a:prstGeom prst="roundRect">
                <a:avLst>
                  <a:gd name="adj" fmla="val 3157"/>
                </a:avLst>
              </a:prstGeom>
              <a:solidFill>
                <a:srgbClr val="FFFFFF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8"/>
              <p:cNvSpPr txBox="1"/>
              <p:nvPr/>
            </p:nvSpPr>
            <p:spPr>
              <a:xfrm>
                <a:off x="238125" y="238125"/>
                <a:ext cx="35244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8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Architectural Highlights</a:t>
                </a:r>
                <a:endParaRPr sz="148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0" lvl="0" indent="0" algn="l" rtl="0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lang="en" sz="1018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• Clean Separation:</a:t>
                </a:r>
                <a:r>
                  <a:rPr lang="en" sz="1018" b="0">
                    <a:solidFill>
                      <a:srgbClr val="555555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Rigid isolation of analytics pipelines from presentation layers mitigates leakage and preserves system modularity.</a:t>
                </a:r>
                <a:endParaRPr sz="1018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0" lvl="0" indent="0" algn="l" rtl="0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lang="en" sz="1018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• Schema-First Setup:</a:t>
                </a:r>
                <a:r>
                  <a:rPr lang="en" sz="1018" b="0">
                    <a:solidFill>
                      <a:srgbClr val="555555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Enforces structured integrity across a 5-table SQLite relational database populated with 28,765 validated records.</a:t>
                </a:r>
                <a:endParaRPr sz="1018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0" lvl="0" indent="0" algn="l" rtl="0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lang="en" sz="1018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• Intelligent Pipelines:</a:t>
                </a:r>
                <a:r>
                  <a:rPr lang="en" sz="1018" b="0">
                    <a:solidFill>
                      <a:srgbClr val="555555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Features robust historical PO training via a 6-model ML workflow with deep SHAP explainability.</a:t>
                </a:r>
                <a:endParaRPr sz="1018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0" lvl="0" indent="0" algn="l" rtl="0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lang="en" sz="1018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• Instant UI Rendering:</a:t>
                </a:r>
                <a:r>
                  <a:rPr lang="en" sz="1018" b="0">
                    <a:solidFill>
                      <a:srgbClr val="555555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State-preserving interface architecture delivers lightweight queries and immediate visual updates inside 5 Streamlit tabs.</a:t>
                </a:r>
                <a:endParaRPr sz="1018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cxnSp>
        <p:nvCxnSpPr>
          <p:cNvPr id="142" name="Google Shape;142;p18"/>
          <p:cNvCxnSpPr/>
          <p:nvPr/>
        </p:nvCxnSpPr>
        <p:spPr>
          <a:xfrm>
            <a:off x="-7125" y="74205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43" name="Google Shape;143;p18"/>
          <p:cNvSpPr txBox="1"/>
          <p:nvPr/>
        </p:nvSpPr>
        <p:spPr>
          <a:xfrm>
            <a:off x="571500" y="768125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4-Tier Clean Layered Design</a:t>
            </a:r>
            <a:endParaRPr sz="28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2507475" y="7493528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Internship II</a:t>
            </a:r>
            <a:endParaRPr sz="1200" b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19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150" name="Google Shape;150;p19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2" name="Google Shape;152;p19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53" name="Google Shape;153;p19"/>
          <p:cNvSpPr txBox="1"/>
          <p:nvPr/>
        </p:nvSpPr>
        <p:spPr>
          <a:xfrm>
            <a:off x="571500" y="85725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Database Design &amp; SQL Analytics</a:t>
            </a:r>
            <a:endParaRPr sz="28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3124200" y="6245228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55" name="Google Shape;155;p19"/>
          <p:cNvGrpSpPr/>
          <p:nvPr/>
        </p:nvGrpSpPr>
        <p:grpSpPr>
          <a:xfrm>
            <a:off x="571500" y="1905000"/>
            <a:ext cx="3810000" cy="2857500"/>
            <a:chOff x="571500" y="1905000"/>
            <a:chExt cx="3810000" cy="2857500"/>
          </a:xfrm>
        </p:grpSpPr>
        <p:pic>
          <p:nvPicPr>
            <p:cNvPr id="156" name="Google Shape;156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1905000"/>
              <a:ext cx="3810000" cy="2857500"/>
            </a:xfrm>
            <a:prstGeom prst="roundRect">
              <a:avLst>
                <a:gd name="adj" fmla="val 4000"/>
              </a:avLst>
            </a:prstGeom>
            <a:noFill/>
            <a:ln>
              <a:noFill/>
            </a:ln>
          </p:spPr>
        </p:pic>
        <p:sp>
          <p:nvSpPr>
            <p:cNvPr id="157" name="Google Shape;157;p19"/>
            <p:cNvSpPr/>
            <p:nvPr/>
          </p:nvSpPr>
          <p:spPr>
            <a:xfrm>
              <a:off x="571500" y="1905000"/>
              <a:ext cx="3810000" cy="2857500"/>
            </a:xfrm>
            <a:prstGeom prst="roundRect">
              <a:avLst>
                <a:gd name="adj" fmla="val 4000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19"/>
          <p:cNvGrpSpPr/>
          <p:nvPr/>
        </p:nvGrpSpPr>
        <p:grpSpPr>
          <a:xfrm>
            <a:off x="571500" y="4905375"/>
            <a:ext cx="3810000" cy="1000200"/>
            <a:chOff x="571500" y="4905375"/>
            <a:chExt cx="3810000" cy="1000200"/>
          </a:xfrm>
        </p:grpSpPr>
        <p:sp>
          <p:nvSpPr>
            <p:cNvPr id="159" name="Google Shape;159;p19"/>
            <p:cNvSpPr/>
            <p:nvPr/>
          </p:nvSpPr>
          <p:spPr>
            <a:xfrm>
              <a:off x="571500" y="4905375"/>
              <a:ext cx="3810000" cy="10002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762000" y="504825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ERD Summary</a:t>
              </a:r>
              <a:endParaRPr sz="935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935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5 interconnected tables (Purchase Orders, Suppliers, Products, Departments, Order Items) illustrating database schemas and relationship maps.</a:t>
              </a:r>
              <a:endParaRPr sz="935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61" name="Google Shape;161;p19"/>
          <p:cNvGrpSpPr/>
          <p:nvPr/>
        </p:nvGrpSpPr>
        <p:grpSpPr>
          <a:xfrm>
            <a:off x="4762500" y="1905000"/>
            <a:ext cx="3810000" cy="4000500"/>
            <a:chOff x="4762500" y="1905000"/>
            <a:chExt cx="3810000" cy="4000500"/>
          </a:xfrm>
        </p:grpSpPr>
        <p:sp>
          <p:nvSpPr>
            <p:cNvPr id="162" name="Google Shape;162;p19"/>
            <p:cNvSpPr/>
            <p:nvPr/>
          </p:nvSpPr>
          <p:spPr>
            <a:xfrm>
              <a:off x="4762500" y="1905000"/>
              <a:ext cx="3810000" cy="4000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4953000" y="2047875"/>
              <a:ext cx="3429000" cy="37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SQL Highlights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Verdana"/>
                <a:buChar char="●"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Supplier Risk Scoring: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Late delivery and price drift combined to evaluate vendor risk exposure.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Verdana"/>
                <a:buChar char="●"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Price Drift Detection: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Detects YoY changes using advanced LAG analytic window functions.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Verdana"/>
                <a:buChar char="●"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Spend Pareto (80/20 Rule):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Identifies top spend categories driving the vast majority of procurement costs.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Verdana"/>
                <a:buChar char="●"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Late Delivery Rate Trend: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Pinpoints deteriorating performance patterns using rolling trends.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600"/>
                </a:spcAft>
                <a:buClr>
                  <a:srgbClr val="555555"/>
                </a:buClr>
                <a:buSzPts val="1100"/>
                <a:buFont typeface="Verdana"/>
                <a:buChar char="●"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Budget Utilization:</a:t>
              </a: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Correlates transaction values directly with authorized departmental limits.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169" name="Google Shape;169;p20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20"/>
          <p:cNvSpPr txBox="1"/>
          <p:nvPr/>
        </p:nvSpPr>
        <p:spPr>
          <a:xfrm>
            <a:off x="571500" y="85725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ML Pipeline — Late Delivery Prediction</a:t>
            </a:r>
            <a:endParaRPr sz="28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72" name="Google Shape;172;p20"/>
          <p:cNvGrpSpPr/>
          <p:nvPr/>
        </p:nvGrpSpPr>
        <p:grpSpPr>
          <a:xfrm>
            <a:off x="571500" y="1952625"/>
            <a:ext cx="3857700" cy="3952800"/>
            <a:chOff x="571500" y="1952625"/>
            <a:chExt cx="3857700" cy="3952800"/>
          </a:xfrm>
        </p:grpSpPr>
        <p:sp>
          <p:nvSpPr>
            <p:cNvPr id="173" name="Google Shape;173;p20"/>
            <p:cNvSpPr/>
            <p:nvPr/>
          </p:nvSpPr>
          <p:spPr>
            <a:xfrm>
              <a:off x="571500" y="1952625"/>
              <a:ext cx="3857700" cy="3952800"/>
            </a:xfrm>
            <a:prstGeom prst="roundRect">
              <a:avLst>
                <a:gd name="adj" fmla="val 2962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4" name="Google Shape;174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6750" y="2095500"/>
              <a:ext cx="3667200" cy="2750400"/>
            </a:xfrm>
            <a:prstGeom prst="roundRect">
              <a:avLst>
                <a:gd name="adj" fmla="val 4155"/>
              </a:avLst>
            </a:prstGeom>
            <a:noFill/>
            <a:ln>
              <a:noFill/>
            </a:ln>
          </p:spPr>
        </p:pic>
        <p:sp>
          <p:nvSpPr>
            <p:cNvPr id="175" name="Google Shape;175;p20"/>
            <p:cNvSpPr/>
            <p:nvPr/>
          </p:nvSpPr>
          <p:spPr>
            <a:xfrm>
              <a:off x="666750" y="2095500"/>
              <a:ext cx="3667200" cy="2750400"/>
            </a:xfrm>
            <a:prstGeom prst="roundRect">
              <a:avLst>
                <a:gd name="adj" fmla="val 4155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762000" y="5000625"/>
              <a:ext cx="3476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ROC-AUC Model Comparison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Random Forest achieves champion performance with an AUC of 0.714, followed closely by XGBoost and Gradient Boosting.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4714875" y="1952625"/>
            <a:ext cx="3857700" cy="3952800"/>
            <a:chOff x="4714875" y="1952625"/>
            <a:chExt cx="3857700" cy="3952800"/>
          </a:xfrm>
        </p:grpSpPr>
        <p:sp>
          <p:nvSpPr>
            <p:cNvPr id="178" name="Google Shape;178;p20"/>
            <p:cNvSpPr/>
            <p:nvPr/>
          </p:nvSpPr>
          <p:spPr>
            <a:xfrm>
              <a:off x="4714875" y="1952625"/>
              <a:ext cx="3857700" cy="3952800"/>
            </a:xfrm>
            <a:prstGeom prst="roundRect">
              <a:avLst>
                <a:gd name="adj" fmla="val 2962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4905375" y="2095500"/>
              <a:ext cx="3476700" cy="366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Pipeline Architecture</a:t>
              </a:r>
              <a:endParaRPr sz="15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Target Definition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Binary Late Delivery</a:t>
              </a: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(utilizing 12 engineered features with walk-forward validation).</a:t>
              </a:r>
              <a:endParaRPr sz="105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Model Evaluations (ROC-AUC)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Logistic Regression: </a:t>
              </a:r>
              <a:r>
                <a:rPr lang="en" sz="100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0.641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Decision Tree: </a:t>
              </a:r>
              <a:r>
                <a:rPr lang="en" sz="100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0.658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SVM: </a:t>
              </a:r>
              <a:r>
                <a:rPr lang="en" sz="100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0.633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XGBoost: </a:t>
              </a:r>
              <a:r>
                <a:rPr lang="en" sz="100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0.698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Gradient Boosting: </a:t>
              </a:r>
              <a:r>
                <a:rPr lang="en" sz="100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0.701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★ Random Forest (Champion): 0.714</a:t>
              </a:r>
              <a:endParaRPr sz="105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Explainability (SHAP)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SHAP feature importance identified </a:t>
              </a:r>
              <a:r>
                <a:rPr lang="en" sz="105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supplier risk tier</a:t>
              </a: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and </a:t>
              </a:r>
              <a:r>
                <a:rPr lang="en" sz="105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lead time</a:t>
              </a: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as the top drivers of predictions.</a:t>
              </a:r>
              <a:endParaRPr sz="105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cxnSp>
        <p:nvCxnSpPr>
          <p:cNvPr id="180" name="Google Shape;180;p20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2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233" name="Google Shape;233;p22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5" name="Google Shape;235;p22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236" name="Google Shape;236;p22"/>
          <p:cNvSpPr txBox="1"/>
          <p:nvPr/>
        </p:nvSpPr>
        <p:spPr>
          <a:xfrm>
            <a:off x="609600" y="76200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Procurement </a:t>
            </a:r>
            <a:r>
              <a:rPr lang="en" sz="2800" b="1" dirty="0" smtClean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Health </a:t>
            </a:r>
            <a:r>
              <a:rPr lang="en" sz="2800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Score</a:t>
            </a:r>
            <a:endParaRPr sz="2800" b="1" dirty="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37" name="Google Shape;237;p22"/>
          <p:cNvGrpSpPr/>
          <p:nvPr/>
        </p:nvGrpSpPr>
        <p:grpSpPr>
          <a:xfrm>
            <a:off x="571500" y="1905000"/>
            <a:ext cx="3619500" cy="3905400"/>
            <a:chOff x="571500" y="1905000"/>
            <a:chExt cx="3619500" cy="3905400"/>
          </a:xfrm>
        </p:grpSpPr>
        <p:sp>
          <p:nvSpPr>
            <p:cNvPr id="238" name="Google Shape;238;p22"/>
            <p:cNvSpPr/>
            <p:nvPr/>
          </p:nvSpPr>
          <p:spPr>
            <a:xfrm>
              <a:off x="571500" y="1905000"/>
              <a:ext cx="3619500" cy="3905400"/>
            </a:xfrm>
            <a:prstGeom prst="roundRect">
              <a:avLst>
                <a:gd name="adj" fmla="val 315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2"/>
            <p:cNvSpPr txBox="1"/>
            <p:nvPr/>
          </p:nvSpPr>
          <p:spPr>
            <a:xfrm>
              <a:off x="809625" y="2143125"/>
              <a:ext cx="3143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System Health Engine</a:t>
              </a:r>
              <a:endParaRPr sz="1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0" name="Google Shape;240;p22"/>
            <p:cNvSpPr txBox="1"/>
            <p:nvPr/>
          </p:nvSpPr>
          <p:spPr>
            <a:xfrm>
              <a:off x="809625" y="2476500"/>
              <a:ext cx="3143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Aggregates 6 key operational signals on a weighted 0-100 scale to provide an immediate indicator of end-to-end procurement health and compliance.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cxnSp>
          <p:nvCxnSpPr>
            <p:cNvPr id="241" name="Google Shape;241;p22"/>
            <p:cNvCxnSpPr/>
            <p:nvPr/>
          </p:nvCxnSpPr>
          <p:spPr>
            <a:xfrm>
              <a:off x="809625" y="3381375"/>
              <a:ext cx="25719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2" name="Google Shape;242;p22"/>
            <p:cNvSpPr txBox="1"/>
            <p:nvPr/>
          </p:nvSpPr>
          <p:spPr>
            <a:xfrm>
              <a:off x="809625" y="3571875"/>
              <a:ext cx="3143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777777"/>
                  </a:solidFill>
                  <a:latin typeface="Verdana"/>
                  <a:ea typeface="Verdana"/>
                  <a:cs typeface="Verdana"/>
                  <a:sym typeface="Verdana"/>
                </a:rPr>
                <a:t>CURRENT COMPOSITE SCORE</a:t>
              </a:r>
              <a:endParaRPr sz="850" b="1">
                <a:solidFill>
                  <a:srgbClr val="777777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809625" y="3810000"/>
              <a:ext cx="3143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2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49.1</a:t>
              </a:r>
              <a:r>
                <a:rPr lang="en" sz="22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/ 100</a:t>
              </a:r>
              <a:endParaRPr sz="52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1428750" y="4810125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FFF5F5"/>
            </a:solidFill>
            <a:ln w="14300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2"/>
            <p:cNvSpPr txBox="1"/>
            <p:nvPr/>
          </p:nvSpPr>
          <p:spPr>
            <a:xfrm>
              <a:off x="1428750" y="4810125"/>
              <a:ext cx="1905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⚠ Needs Attention</a:t>
              </a:r>
              <a:endParaRPr sz="10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246" name="Google Shape;246;p22"/>
          <p:cNvGrpSpPr/>
          <p:nvPr/>
        </p:nvGrpSpPr>
        <p:grpSpPr>
          <a:xfrm>
            <a:off x="4572000" y="1905000"/>
            <a:ext cx="4000500" cy="3905400"/>
            <a:chOff x="4572000" y="1905000"/>
            <a:chExt cx="4000500" cy="3905400"/>
          </a:xfrm>
        </p:grpSpPr>
        <p:sp>
          <p:nvSpPr>
            <p:cNvPr id="247" name="Google Shape;247;p22"/>
            <p:cNvSpPr/>
            <p:nvPr/>
          </p:nvSpPr>
          <p:spPr>
            <a:xfrm>
              <a:off x="4572000" y="1905000"/>
              <a:ext cx="4000500" cy="3905400"/>
            </a:xfrm>
            <a:prstGeom prst="roundRect">
              <a:avLst>
                <a:gd name="adj" fmla="val 2926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2"/>
            <p:cNvSpPr txBox="1"/>
            <p:nvPr/>
          </p:nvSpPr>
          <p:spPr>
            <a:xfrm>
              <a:off x="4810125" y="2143125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Component Breakdown</a:t>
              </a:r>
              <a:endParaRPr sz="14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249" name="Google Shape;249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34175" y="2524125"/>
              <a:ext cx="9600" cy="300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91363" y="2524125"/>
              <a:ext cx="9600" cy="300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448550" y="2524125"/>
              <a:ext cx="9600" cy="3000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2" name="Google Shape;252;p22"/>
            <p:cNvGrpSpPr/>
            <p:nvPr/>
          </p:nvGrpSpPr>
          <p:grpSpPr>
            <a:xfrm>
              <a:off x="4810125" y="2571750"/>
              <a:ext cx="3572025" cy="381000"/>
              <a:chOff x="4810125" y="2571750"/>
              <a:chExt cx="3572025" cy="381000"/>
            </a:xfrm>
          </p:grpSpPr>
          <p:sp>
            <p:nvSpPr>
              <p:cNvPr id="253" name="Google Shape;253;p22"/>
              <p:cNvSpPr txBox="1"/>
              <p:nvPr/>
            </p:nvSpPr>
            <p:spPr>
              <a:xfrm>
                <a:off x="4810125" y="257175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On-Time Delivery</a:t>
                </a:r>
                <a:b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" sz="750" b="0">
                    <a:solidFill>
                      <a:srgbClr val="777777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Weight: 25%</a:t>
                </a:r>
                <a:endParaRPr sz="9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54" name="Google Shape;254;p22"/>
              <p:cNvSpPr/>
              <p:nvPr/>
            </p:nvSpPr>
            <p:spPr>
              <a:xfrm>
                <a:off x="6381750" y="2705100"/>
                <a:ext cx="14289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2"/>
              <p:cNvSpPr/>
              <p:nvPr/>
            </p:nvSpPr>
            <p:spPr>
              <a:xfrm>
                <a:off x="6381750" y="2705100"/>
                <a:ext cx="8859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2"/>
              <p:cNvSpPr txBox="1"/>
              <p:nvPr/>
            </p:nvSpPr>
            <p:spPr>
              <a:xfrm>
                <a:off x="7905750" y="2571750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62%</a:t>
                </a:r>
                <a:endParaRPr sz="10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257" name="Google Shape;257;p22"/>
            <p:cNvGrpSpPr/>
            <p:nvPr/>
          </p:nvGrpSpPr>
          <p:grpSpPr>
            <a:xfrm>
              <a:off x="4810125" y="3067050"/>
              <a:ext cx="3572025" cy="381000"/>
              <a:chOff x="4810125" y="3067050"/>
              <a:chExt cx="3572025" cy="381000"/>
            </a:xfrm>
          </p:grpSpPr>
          <p:sp>
            <p:nvSpPr>
              <p:cNvPr id="258" name="Google Shape;258;p22"/>
              <p:cNvSpPr txBox="1"/>
              <p:nvPr/>
            </p:nvSpPr>
            <p:spPr>
              <a:xfrm>
                <a:off x="4810125" y="306705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Supplier Risk</a:t>
                </a:r>
                <a:b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" sz="750" b="0">
                    <a:solidFill>
                      <a:srgbClr val="777777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Weight: 20%</a:t>
                </a:r>
                <a:endParaRPr sz="9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59" name="Google Shape;259;p22"/>
              <p:cNvSpPr/>
              <p:nvPr/>
            </p:nvSpPr>
            <p:spPr>
              <a:xfrm>
                <a:off x="6381750" y="3200400"/>
                <a:ext cx="14289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2"/>
              <p:cNvSpPr/>
              <p:nvPr/>
            </p:nvSpPr>
            <p:spPr>
              <a:xfrm>
                <a:off x="6381750" y="3200400"/>
                <a:ext cx="5859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2"/>
              <p:cNvSpPr txBox="1"/>
              <p:nvPr/>
            </p:nvSpPr>
            <p:spPr>
              <a:xfrm>
                <a:off x="7905750" y="3067050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41%</a:t>
                </a:r>
                <a:endParaRPr sz="10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262" name="Google Shape;262;p22"/>
            <p:cNvGrpSpPr/>
            <p:nvPr/>
          </p:nvGrpSpPr>
          <p:grpSpPr>
            <a:xfrm>
              <a:off x="4810125" y="3562350"/>
              <a:ext cx="3572025" cy="381000"/>
              <a:chOff x="4810125" y="3562350"/>
              <a:chExt cx="3572025" cy="381000"/>
            </a:xfrm>
          </p:grpSpPr>
          <p:sp>
            <p:nvSpPr>
              <p:cNvPr id="263" name="Google Shape;263;p22"/>
              <p:cNvSpPr txBox="1"/>
              <p:nvPr/>
            </p:nvSpPr>
            <p:spPr>
              <a:xfrm>
                <a:off x="4810125" y="356235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Price Stability</a:t>
                </a:r>
                <a:b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" sz="750" b="0">
                    <a:solidFill>
                      <a:srgbClr val="777777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Weight: 20%</a:t>
                </a:r>
                <a:endParaRPr sz="9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64" name="Google Shape;264;p22"/>
              <p:cNvSpPr/>
              <p:nvPr/>
            </p:nvSpPr>
            <p:spPr>
              <a:xfrm>
                <a:off x="6381750" y="3695700"/>
                <a:ext cx="14289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2"/>
              <p:cNvSpPr/>
              <p:nvPr/>
            </p:nvSpPr>
            <p:spPr>
              <a:xfrm>
                <a:off x="6381750" y="3695700"/>
                <a:ext cx="785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2"/>
              <p:cNvSpPr txBox="1"/>
              <p:nvPr/>
            </p:nvSpPr>
            <p:spPr>
              <a:xfrm>
                <a:off x="7905750" y="3562350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55%</a:t>
                </a:r>
                <a:endParaRPr sz="10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267" name="Google Shape;267;p22"/>
            <p:cNvGrpSpPr/>
            <p:nvPr/>
          </p:nvGrpSpPr>
          <p:grpSpPr>
            <a:xfrm>
              <a:off x="4810125" y="4057650"/>
              <a:ext cx="3572025" cy="381000"/>
              <a:chOff x="4810125" y="4057650"/>
              <a:chExt cx="3572025" cy="381000"/>
            </a:xfrm>
          </p:grpSpPr>
          <p:sp>
            <p:nvSpPr>
              <p:cNvPr id="268" name="Google Shape;268;p22"/>
              <p:cNvSpPr txBox="1"/>
              <p:nvPr/>
            </p:nvSpPr>
            <p:spPr>
              <a:xfrm>
                <a:off x="4810125" y="405765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Budget Utilization</a:t>
                </a:r>
                <a:b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" sz="750" b="0">
                    <a:solidFill>
                      <a:srgbClr val="777777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Weight: 15%</a:t>
                </a:r>
                <a:endParaRPr sz="9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69" name="Google Shape;269;p22"/>
              <p:cNvSpPr/>
              <p:nvPr/>
            </p:nvSpPr>
            <p:spPr>
              <a:xfrm>
                <a:off x="6381750" y="4191000"/>
                <a:ext cx="14289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6381750" y="4191000"/>
                <a:ext cx="11145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2"/>
              <p:cNvSpPr txBox="1"/>
              <p:nvPr/>
            </p:nvSpPr>
            <p:spPr>
              <a:xfrm>
                <a:off x="7905750" y="4057650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78%</a:t>
                </a:r>
                <a:endParaRPr sz="10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272" name="Google Shape;272;p22"/>
            <p:cNvGrpSpPr/>
            <p:nvPr/>
          </p:nvGrpSpPr>
          <p:grpSpPr>
            <a:xfrm>
              <a:off x="4810125" y="4552950"/>
              <a:ext cx="3572025" cy="381000"/>
              <a:chOff x="4810125" y="4552950"/>
              <a:chExt cx="3572025" cy="381000"/>
            </a:xfrm>
          </p:grpSpPr>
          <p:sp>
            <p:nvSpPr>
              <p:cNvPr id="273" name="Google Shape;273;p22"/>
              <p:cNvSpPr txBox="1"/>
              <p:nvPr/>
            </p:nvSpPr>
            <p:spPr>
              <a:xfrm>
                <a:off x="4810125" y="455295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Spend Concentration</a:t>
                </a:r>
                <a:b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" sz="750" b="0">
                    <a:solidFill>
                      <a:srgbClr val="777777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Weight: 10%</a:t>
                </a:r>
                <a:endParaRPr sz="9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6381750" y="4686300"/>
                <a:ext cx="14289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6381750" y="4686300"/>
                <a:ext cx="4716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2"/>
              <p:cNvSpPr txBox="1"/>
              <p:nvPr/>
            </p:nvSpPr>
            <p:spPr>
              <a:xfrm>
                <a:off x="7905750" y="4552950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33%</a:t>
                </a:r>
                <a:endParaRPr sz="10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  <p:grpSp>
          <p:nvGrpSpPr>
            <p:cNvPr id="277" name="Google Shape;277;p22"/>
            <p:cNvGrpSpPr/>
            <p:nvPr/>
          </p:nvGrpSpPr>
          <p:grpSpPr>
            <a:xfrm>
              <a:off x="4810125" y="5048250"/>
              <a:ext cx="3572025" cy="381000"/>
              <a:chOff x="4810125" y="5048250"/>
              <a:chExt cx="3572025" cy="381000"/>
            </a:xfrm>
          </p:grpSpPr>
          <p:sp>
            <p:nvSpPr>
              <p:cNvPr id="278" name="Google Shape;278;p22"/>
              <p:cNvSpPr txBox="1"/>
              <p:nvPr/>
            </p:nvSpPr>
            <p:spPr>
              <a:xfrm>
                <a:off x="4810125" y="504825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PO Cycle Time</a:t>
                </a:r>
                <a:br>
                  <a:rPr lang="en" sz="900" b="1">
                    <a:solidFill>
                      <a:srgbClr val="333333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lang="en" sz="750" b="0">
                    <a:solidFill>
                      <a:srgbClr val="777777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Weight: 10%</a:t>
                </a:r>
                <a:endParaRPr sz="9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79" name="Google Shape;279;p22"/>
              <p:cNvSpPr/>
              <p:nvPr/>
            </p:nvSpPr>
            <p:spPr>
              <a:xfrm>
                <a:off x="6381750" y="5181600"/>
                <a:ext cx="14289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6381750" y="5181600"/>
                <a:ext cx="6858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CC0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2"/>
              <p:cNvSpPr txBox="1"/>
              <p:nvPr/>
            </p:nvSpPr>
            <p:spPr>
              <a:xfrm>
                <a:off x="7905750" y="5048250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CC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48%</a:t>
                </a:r>
                <a:endParaRPr sz="10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23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287" name="Google Shape;287;p23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89" name="Google Shape;289;p23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290" name="Google Shape;290;p23"/>
          <p:cNvSpPr txBox="1"/>
          <p:nvPr/>
        </p:nvSpPr>
        <p:spPr>
          <a:xfrm>
            <a:off x="571500" y="762000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Streamlit BI Studio — 5-Tab Interface</a:t>
            </a:r>
            <a:endParaRPr sz="28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91" name="Google Shape;291;p23"/>
          <p:cNvGrpSpPr/>
          <p:nvPr/>
        </p:nvGrpSpPr>
        <p:grpSpPr>
          <a:xfrm>
            <a:off x="571500" y="1905000"/>
            <a:ext cx="4048200" cy="3905400"/>
            <a:chOff x="571500" y="1905000"/>
            <a:chExt cx="4048200" cy="3905400"/>
          </a:xfrm>
        </p:grpSpPr>
        <p:sp>
          <p:nvSpPr>
            <p:cNvPr id="292" name="Google Shape;292;p23"/>
            <p:cNvSpPr/>
            <p:nvPr/>
          </p:nvSpPr>
          <p:spPr>
            <a:xfrm>
              <a:off x="571500" y="1905000"/>
              <a:ext cx="4048200" cy="3905400"/>
            </a:xfrm>
            <a:prstGeom prst="roundRect">
              <a:avLst>
                <a:gd name="adj" fmla="val 2926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3" name="Google Shape;293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2000" y="2095500"/>
              <a:ext cx="3667200" cy="20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23"/>
            <p:cNvSpPr/>
            <p:nvPr/>
          </p:nvSpPr>
          <p:spPr>
            <a:xfrm>
              <a:off x="762000" y="2095500"/>
              <a:ext cx="3667200" cy="2057400"/>
            </a:xfrm>
            <a:prstGeom prst="roundRect">
              <a:avLst>
                <a:gd name="adj" fmla="val 5555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3"/>
            <p:cNvSpPr txBox="1"/>
            <p:nvPr/>
          </p:nvSpPr>
          <p:spPr>
            <a:xfrm>
              <a:off x="762000" y="4286250"/>
              <a:ext cx="36672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Streamlit BI Application Mockup</a:t>
              </a:r>
              <a:endParaRPr sz="12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Interactive web console built with Python, showing active metrics, spend analytics, and ML risk evaluation tabs.</a:t>
              </a:r>
              <a:endParaRPr sz="105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5-Tab Interactive Console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Executive Overview   • SQL Studio</a:t>
              </a:r>
              <a:b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</a:b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Supplier Risk Map   • ML Insights   • Data Explorer</a:t>
              </a:r>
              <a:endParaRPr sz="105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4905375" y="1905000"/>
            <a:ext cx="3667200" cy="3905400"/>
            <a:chOff x="4905375" y="1905000"/>
            <a:chExt cx="3667200" cy="3905400"/>
          </a:xfrm>
        </p:grpSpPr>
        <p:sp>
          <p:nvSpPr>
            <p:cNvPr id="297" name="Google Shape;297;p23"/>
            <p:cNvSpPr/>
            <p:nvPr/>
          </p:nvSpPr>
          <p:spPr>
            <a:xfrm>
              <a:off x="4905375" y="1905000"/>
              <a:ext cx="3667200" cy="3905400"/>
            </a:xfrm>
            <a:prstGeom prst="roundRect">
              <a:avLst>
                <a:gd name="adj" fmla="val 3116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5095875" y="2095500"/>
              <a:ext cx="32862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Interactive BI Features</a:t>
              </a:r>
              <a:endParaRPr sz="15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Streamlit Interactivity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Dynamic Python-driven widgets enable instant filtering and multi-dimensional state management across all five tabs.</a:t>
              </a:r>
              <a:endParaRPr sz="105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Plotly Drilldown Capabilities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Interactive charts allow granular exploration of spend categories, procurement timelines, and supplier compliance metrics.</a:t>
              </a:r>
              <a:endParaRPr sz="105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In-Browser ML Inference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Key Feature:</a:t>
              </a: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 Executes client-side model inference (ROC/SHAP) for real-time risk scoring on new purchase orders.</a:t>
              </a:r>
              <a:endParaRPr sz="105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99" name="Google Shape;299;p23"/>
          <p:cNvSpPr/>
          <p:nvPr/>
        </p:nvSpPr>
        <p:spPr>
          <a:xfrm>
            <a:off x="3124200" y="6245228"/>
            <a:ext cx="2895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4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305" name="Google Shape;305;p24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7" name="Google Shape;307;p24"/>
          <p:cNvSpPr txBox="1"/>
          <p:nvPr/>
        </p:nvSpPr>
        <p:spPr>
          <a:xfrm>
            <a:off x="571500" y="85725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Results &amp; Key Findings</a:t>
            </a:r>
            <a:endParaRPr sz="28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08" name="Google Shape;308;p24"/>
          <p:cNvGrpSpPr/>
          <p:nvPr/>
        </p:nvGrpSpPr>
        <p:grpSpPr>
          <a:xfrm>
            <a:off x="571500" y="1905000"/>
            <a:ext cx="3905400" cy="4000500"/>
            <a:chOff x="571500" y="1905000"/>
            <a:chExt cx="3905400" cy="4000500"/>
          </a:xfrm>
        </p:grpSpPr>
        <p:sp>
          <p:nvSpPr>
            <p:cNvPr id="309" name="Google Shape;309;p24"/>
            <p:cNvSpPr/>
            <p:nvPr/>
          </p:nvSpPr>
          <p:spPr>
            <a:xfrm>
              <a:off x="571500" y="1905000"/>
              <a:ext cx="3905400" cy="4000500"/>
            </a:xfrm>
            <a:prstGeom prst="roundRect">
              <a:avLst>
                <a:gd name="adj" fmla="val 2926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0" name="Google Shape;310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2000" y="2095500"/>
              <a:ext cx="3524400" cy="2643300"/>
            </a:xfrm>
            <a:prstGeom prst="roundRect">
              <a:avLst>
                <a:gd name="adj" fmla="val 4324"/>
              </a:avLst>
            </a:prstGeom>
            <a:noFill/>
            <a:ln>
              <a:noFill/>
            </a:ln>
          </p:spPr>
        </p:pic>
        <p:sp>
          <p:nvSpPr>
            <p:cNvPr id="311" name="Google Shape;311;p24"/>
            <p:cNvSpPr/>
            <p:nvPr/>
          </p:nvSpPr>
          <p:spPr>
            <a:xfrm>
              <a:off x="762000" y="2095500"/>
              <a:ext cx="3524400" cy="2643300"/>
            </a:xfrm>
            <a:prstGeom prst="roundRect">
              <a:avLst>
                <a:gd name="adj" fmla="val 4324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4"/>
            <p:cNvSpPr txBox="1"/>
            <p:nvPr/>
          </p:nvSpPr>
          <p:spPr>
            <a:xfrm>
              <a:off x="762000" y="4905375"/>
              <a:ext cx="3524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Spend Pareto Curve Analysis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Visualized spend distributions confirm the operational 80/20 rule application across academic suppliers.</a:t>
              </a:r>
              <a:endParaRPr sz="10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313" name="Google Shape;313;p24"/>
          <p:cNvGrpSpPr/>
          <p:nvPr/>
        </p:nvGrpSpPr>
        <p:grpSpPr>
          <a:xfrm>
            <a:off x="4667250" y="1905000"/>
            <a:ext cx="3905400" cy="4000500"/>
            <a:chOff x="4667250" y="1905000"/>
            <a:chExt cx="3905400" cy="4000500"/>
          </a:xfrm>
        </p:grpSpPr>
        <p:sp>
          <p:nvSpPr>
            <p:cNvPr id="314" name="Google Shape;314;p24"/>
            <p:cNvSpPr/>
            <p:nvPr/>
          </p:nvSpPr>
          <p:spPr>
            <a:xfrm>
              <a:off x="4667250" y="1905000"/>
              <a:ext cx="3905400" cy="4000500"/>
            </a:xfrm>
            <a:prstGeom prst="roundRect">
              <a:avLst>
                <a:gd name="adj" fmla="val 2926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4"/>
            <p:cNvSpPr txBox="1"/>
            <p:nvPr/>
          </p:nvSpPr>
          <p:spPr>
            <a:xfrm>
              <a:off x="4905375" y="2047875"/>
              <a:ext cx="3429000" cy="37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Project Results</a:t>
              </a:r>
              <a:endParaRPr sz="15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Model Performance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Random Forest ROC-AUC 0.714.</a:t>
              </a:r>
              <a:endParaRPr sz="105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Spend Concentration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Top 20% of suppliers hold 78% of total spend.</a:t>
              </a:r>
              <a:endParaRPr sz="105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Risk Distribution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34% of suppliers are High/Critical risk.</a:t>
              </a:r>
              <a:endParaRPr sz="105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Price Drift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8.3% average YoY increase.</a:t>
              </a:r>
              <a:endParaRPr sz="105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Seasonality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Late deliveries peaked at 31% in Q3.</a:t>
              </a:r>
              <a:endParaRPr sz="105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Key Insight</a:t>
              </a:r>
              <a:endParaRPr sz="11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Supplier Risk Tier is the strongest predictor (38% SHAP contribution).</a:t>
              </a:r>
              <a:endParaRPr sz="105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cxnSp>
        <p:nvCxnSpPr>
          <p:cNvPr id="316" name="Google Shape;316;p24"/>
          <p:cNvCxnSpPr/>
          <p:nvPr/>
        </p:nvCxnSpPr>
        <p:spPr>
          <a:xfrm>
            <a:off x="62625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317" name="Google Shape;317;p24"/>
          <p:cNvSpPr txBox="1"/>
          <p:nvPr/>
        </p:nvSpPr>
        <p:spPr>
          <a:xfrm>
            <a:off x="3124200" y="6245228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5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323" name="Google Shape;323;p25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25" name="Google Shape;325;p25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326" name="Google Shape;326;p25"/>
          <p:cNvSpPr txBox="1"/>
          <p:nvPr/>
        </p:nvSpPr>
        <p:spPr>
          <a:xfrm>
            <a:off x="571500" y="85725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End-to-End Analytics Value</a:t>
            </a:r>
            <a:endParaRPr sz="2800" b="1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27" name="Google Shape;327;p25"/>
          <p:cNvGrpSpPr/>
          <p:nvPr/>
        </p:nvGrpSpPr>
        <p:grpSpPr>
          <a:xfrm>
            <a:off x="952500" y="2047875"/>
            <a:ext cx="3429000" cy="3619500"/>
            <a:chOff x="952500" y="2047875"/>
            <a:chExt cx="3429000" cy="3619500"/>
          </a:xfrm>
        </p:grpSpPr>
        <p:sp>
          <p:nvSpPr>
            <p:cNvPr id="328" name="Google Shape;328;p25"/>
            <p:cNvSpPr/>
            <p:nvPr/>
          </p:nvSpPr>
          <p:spPr>
            <a:xfrm>
              <a:off x="952500" y="204787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5"/>
            <p:cNvSpPr txBox="1"/>
            <p:nvPr/>
          </p:nvSpPr>
          <p:spPr>
            <a:xfrm>
              <a:off x="1143000" y="2238375"/>
              <a:ext cx="304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Conclusion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Bridged Architecture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Successfully bridged raw transactional data and actionable insights via a modular AI architecture.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Verdana"/>
                  <a:ea typeface="Verdana"/>
                  <a:cs typeface="Verdana"/>
                  <a:sym typeface="Verdana"/>
                </a:rPr>
                <a:t>Real-time Delivery</a:t>
              </a:r>
              <a:endParaRPr sz="1100" b="1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Demonstrated the practical value of linking raw relational database environments directly with immediate browser-based machine learning capabilities.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330" name="Google Shape;330;p25"/>
          <p:cNvGrpSpPr/>
          <p:nvPr/>
        </p:nvGrpSpPr>
        <p:grpSpPr>
          <a:xfrm>
            <a:off x="4762500" y="2047875"/>
            <a:ext cx="3429000" cy="3619500"/>
            <a:chOff x="4762500" y="2047875"/>
            <a:chExt cx="3429000" cy="3619500"/>
          </a:xfrm>
        </p:grpSpPr>
        <p:sp>
          <p:nvSpPr>
            <p:cNvPr id="331" name="Google Shape;331;p25"/>
            <p:cNvSpPr/>
            <p:nvPr/>
          </p:nvSpPr>
          <p:spPr>
            <a:xfrm>
              <a:off x="4762500" y="204787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5"/>
            <p:cNvSpPr txBox="1"/>
            <p:nvPr/>
          </p:nvSpPr>
          <p:spPr>
            <a:xfrm>
              <a:off x="4953000" y="2238375"/>
              <a:ext cx="304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CC0000"/>
                  </a:solidFill>
                  <a:latin typeface="Verdana"/>
                  <a:ea typeface="Verdana"/>
                  <a:cs typeface="Verdana"/>
                  <a:sym typeface="Verdana"/>
                </a:rPr>
                <a:t>Future Scope</a:t>
              </a:r>
              <a:endParaRPr sz="16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Real-time ERP API ingestion (SAP, Oracle)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Automated Slack/Email risk alerts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Multi-tenant SaaS with role-based access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LLM-powered natural language SQL queries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marL="142875" marR="0" lvl="0" indent="-142875" algn="l" rtl="0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55555"/>
                  </a:solidFill>
                  <a:latin typeface="Verdana"/>
                  <a:ea typeface="Verdana"/>
                  <a:cs typeface="Verdana"/>
                  <a:sym typeface="Verdana"/>
                </a:rPr>
                <a:t>• Mobile-responsive layouts</a:t>
              </a:r>
              <a:endParaRPr sz="1100" b="0">
                <a:solidFill>
                  <a:srgbClr val="555555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333" name="Google Shape;333;p25"/>
          <p:cNvSpPr txBox="1"/>
          <p:nvPr/>
        </p:nvSpPr>
        <p:spPr>
          <a:xfrm>
            <a:off x="3124200" y="6245228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6"/>
          <p:cNvGrpSpPr/>
          <p:nvPr/>
        </p:nvGrpSpPr>
        <p:grpSpPr>
          <a:xfrm>
            <a:off x="609600" y="1566850"/>
            <a:ext cx="7958100" cy="109500"/>
            <a:chOff x="0" y="-12"/>
            <a:chExt cx="7958100" cy="109500"/>
          </a:xfrm>
        </p:grpSpPr>
        <p:sp>
          <p:nvSpPr>
            <p:cNvPr id="339" name="Google Shape;339;p26"/>
            <p:cNvSpPr/>
            <p:nvPr/>
          </p:nvSpPr>
          <p:spPr>
            <a:xfrm>
              <a:off x="0" y="-12"/>
              <a:ext cx="4655400" cy="109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0" y="-12"/>
              <a:ext cx="79581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CC0000"/>
            </a:solidFill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26"/>
          <p:cNvSpPr txBox="1"/>
          <p:nvPr/>
        </p:nvSpPr>
        <p:spPr>
          <a:xfrm>
            <a:off x="762000" y="1857375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sz="4800" b="1">
              <a:solidFill>
                <a:srgbClr val="CC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347" name="Google Shape;347;p2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CC0000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977</Words>
  <Application>Microsoft Office PowerPoint</Application>
  <PresentationFormat>On-screen Show (4:3)</PresentationFormat>
  <Paragraphs>142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Verdana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NAEHA</cp:lastModifiedBy>
  <cp:revision>3</cp:revision>
  <dcterms:modified xsi:type="dcterms:W3CDTF">2026-07-31T08:07:45Z</dcterms:modified>
</cp:coreProperties>
</file>